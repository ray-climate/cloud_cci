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Validating ORAC SLSTR cloud retrievals against EarthCARE</a:t>
            </a:r>
          </a:p>
          <a:p>
            <a:r>
              <a:rPr sz="1800">
                <a:solidFill>
                  <a:srgbClr val="D5E4F0"/>
                </a:solidFill>
              </a:rPr>
              <a:t>Sentinel-3A × EarthCARE — December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937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55555"/>
                </a:solidFill>
              </a:rPr>
              <a:t>Continuous validation: CTH · water/ice COT · CER · CWP    |    Categorical: cloud mask · phase (A-TC)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4F72"/>
                </a:solidFill>
              </a:rPr>
              <a:t>Scope &amp; collocation — a polar comparison by orbital mechanics</a:t>
            </a:r>
          </a:p>
          <a:p>
            <a:r>
              <a:rPr sz="1400" i="1">
                <a:solidFill>
                  <a:srgbClr val="555555"/>
                </a:solidFill>
              </a:rPr>
              <a:t>Simultaneous-nadir-overpass geometry of two sun-synchronous orbiters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location_map_po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583" y="1280160"/>
            <a:ext cx="7866529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B4F72"/>
                </a:solidFill>
              </a:rPr>
              <a:t>• SLSTR and EarthCARE are both sun-synchronous → their tracks coincide only near the poles (~70–83°). Every match is polar — not a choice.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Match: temporal gate ±60 min + nearest pixel &lt; 3 km (SLSTR ≈ EarthCARE ≈ 1 km footprint).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Solar retrievals need daylight → December = Antarctic polar day → the COT/CER/CWP/phase sample is 100% Southern Hemisphere; thermal CTH also samples the Arctic (night).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References: A-CTH (height) · ACM-CAP (liquid COT/CER, radar+lidar LWP) · A-EBD (ice COT) · A-TC (phase &amp; cloud mask).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4F72"/>
                </a:solidFill>
              </a:rPr>
              <a:t>Cloud-top height — the strong result</a:t>
            </a:r>
          </a:p>
          <a:p>
            <a:r>
              <a:rPr sz="1400" i="1">
                <a:solidFill>
                  <a:srgbClr val="555555"/>
                </a:solidFill>
              </a:rPr>
              <a:t>ORAC vs A-CTH, both hemispheres (thermal retrieval works day &amp; night)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h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846" y="1280160"/>
            <a:ext cx="7166002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B4F72"/>
                </a:solidFill>
              </a:rPr>
              <a:t>• Median CTH bias −0.25 km (Antarctic, polar day) — the thermal cloud-top retrieval survives the polar regime.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Arctic (polar night) −0.95 km: ~4× larger, a night-vs-day + winter-sea-ice regime contrast, not a pole effect.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The one variable that samples both hemispheres; the headline −0.57 km 'polar' number blends the two regimes.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4F72"/>
                </a:solidFill>
              </a:rPr>
              <a:t>Water-cloud optical depth — the passive retrieval saturates</a:t>
            </a:r>
          </a:p>
          <a:p>
            <a:r>
              <a:rPr sz="1400" i="1">
                <a:solidFill>
                  <a:srgbClr val="555555"/>
                </a:solidFill>
              </a:rPr>
              <a:t>ORAC vs ACM-CAP (radar-aided synergy), phase-agree liquid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t_water_sat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839" y="1280160"/>
            <a:ext cx="9272016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B4F72"/>
                </a:solidFill>
              </a:rPr>
              <a:t>• Report the MEDIAN: −4.8. The quoted '+3 mean' is a skew artefact of a high-τ tail (it even flips sign).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ORAC's passive liquid τ is pinned ~5–8 across the entire ACM-CAP range (0.6→34): it over-reads thin cloud, saturates on thick, and cannot correlate (r_log ≈ 0.1).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It is ORAC saturating, not the radar reference being high (CPR changes the bias by ~1 τ).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4F72"/>
                </a:solidFill>
              </a:rPr>
              <a:t>The deficit is cryospheric — the surface, not the phase</a:t>
            </a:r>
          </a:p>
          <a:p>
            <a:r>
              <a:rPr sz="1400" i="1">
                <a:solidFill>
                  <a:srgbClr val="555555"/>
                </a:solidFill>
              </a:rPr>
              <a:t>Solar-retrieval skill split by ORAC surface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urface_type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7" y="1280160"/>
            <a:ext cx="10698480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B4F72"/>
                </a:solidFill>
              </a:rPr>
              <a:t>• Water-COT correlates (r = +0.28) and over-reads ONLY over open water; over sea-ice &amp; ice-sheet (95% of the scene) r → 0 and bias is −4 to −5.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Same clouds, only the background changed → the τ saturation is the bright-surface radiative regime, not an algorithm bug.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CER is surface-robust (median +0.2 / +0.3 µm over sea-ice / ice-sheet): trustworthy droplet size even where τ is unconstrained.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4F72"/>
                </a:solidFill>
              </a:rPr>
              <a:t>Liquid water path — the saturation reaches the water budget</a:t>
            </a:r>
          </a:p>
          <a:p>
            <a:r>
              <a:rPr sz="1400" i="1">
                <a:solidFill>
                  <a:srgbClr val="555555"/>
                </a:solidFill>
              </a:rPr>
              <a:t>ORAC cwp vs an independent ACM-CAP water-content reference (LWP)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wp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8" y="1280160"/>
            <a:ext cx="8229599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B4F72"/>
                </a:solidFill>
              </a:rPr>
              <a:t>• ORAC liquid water path runs 34% low on the median (30 vs 47 g m⁻²), decorrelated, worse over ice sheet (−18) than ocean (−13).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Validated against radar+lidar liquid-water-content — a reference that never sees τ — so it confirms the τ saturation propagates into the water budget.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Fixed by the same surface-albedo advance, not a CWP-specific change.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4F72"/>
                </a:solidFill>
              </a:rPr>
              <a:t>Cloud mask &amp; phase vs EarthCARE A-TC — the two-way contingency</a:t>
            </a:r>
          </a:p>
          <a:p>
            <a:r>
              <a:rPr sz="1400" i="1">
                <a:solidFill>
                  <a:srgbClr val="555555"/>
                </a:solidFill>
              </a:rPr>
              <a:t>Categorical validation (POD_ice, previously unmeasurable)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hase_contin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1280160"/>
            <a:ext cx="11338560" cy="3239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B4F72"/>
                </a:solidFill>
              </a:rPr>
              <a:t>• Cloud mask: POD 0.69, FAR 0.11 — conservative; the missed 31% is 88% thin cirrus the lidar sees and a passive imager cannot.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B4F72"/>
                </a:solidFill>
              </a:rPr>
              <a:t>• Phase: POD_liquid 89.5%, POD_ice 62.4% → ORAC has a liquid bias, calling 38% of ice cloud tops 'liquid'.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This bias is SURFACE-INDEPENDENT (62–64% over open water, sea-ice, ice-sheet) — an intrinsic limitation, distinct from the surface-driven τ saturation.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• Polar liquid is ~100% supercooled; ORAC handles it well (89.5%).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4F72"/>
                </a:solidFill>
              </a:rPr>
              <a:t>All variables at a glance — December 2025</a:t>
            </a:r>
          </a:p>
          <a:p>
            <a:r>
              <a:rPr sz="1400" i="1">
                <a:solidFill>
                  <a:srgbClr val="555555"/>
                </a:solidFill>
              </a:rPr>
              <a:t>Headline metric per variable (median-primary; N = pixel-level matches)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11155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737360"/>
                <a:gridCol w="4937760"/>
                <a:gridCol w="2011680"/>
              </a:tblGrid>
              <a:tr h="5715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 anchor="ctr"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EarthCARE ref.</a:t>
                      </a:r>
                    </a:p>
                  </a:txBody>
                  <a:tcPr anchor="ctr"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Headline metric</a:t>
                      </a:r>
                    </a:p>
                  </a:txBody>
                  <a:tcPr anchor="ctr"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 anchor="ctr">
                    <a:solidFill>
                      <a:srgbClr val="1B4F7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Cloud-top height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A-CTH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median −0.25 km (S, day) / −0.95 km (N, night)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Strong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Water-cloud COT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ACM-CAP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median −4.8 (passive τ saturates ~5–8)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Regime-limited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Ice-cloud COT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A-EBD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median +2.0 (mean +7 skewed)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Weak corr.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Effective radius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ACM-CAP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median +1 µm (robust bias, no skill)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Robust bias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Liquid water path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ACM-CAP LWP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median −16 g m⁻² (−34%)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Inherits τ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Cloud mask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A-TC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POD 0.69 · FAR 0.11 (misses = thin cirrus)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Conservative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Cloud phase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A-TC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POD_liq 90% · POD_ice 62% (liquid bias)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Liquid-biased</a:t>
                      </a:r>
                    </a:p>
                  </a:txBody>
                  <a:tcPr anchor="ctr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4F72"/>
                </a:solidFill>
              </a:rPr>
              <a:t>Summary — what is validated, and what is next</a:t>
            </a:r>
          </a:p>
          <a:p>
            <a:r>
              <a:rPr sz="1400" i="1">
                <a:solidFill>
                  <a:srgbClr val="555555"/>
                </a:solidFill>
              </a:rPr>
              <a:t>Every EarthCARE-validatable dimension of the Dec-2025 sample is complete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B4F72"/>
                </a:solidFill>
              </a:rPr>
              <a:t>• VALIDATED (all median-primary, with confidence intervals):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– CTH · water-COT · ice-COT · CER · CWP · cloud mask · phase — plus collocation methodology, surface-type &amp; phase stratification.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4F72"/>
                </a:solidFill>
              </a:rPr>
              <a:t>• THE UNIFYING STORY — two independent limitations of the polar-daytime solar retrieval: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– (1) bright-surface optical-depth SATURATION (surface-driven; propagates into CWP; spares open water),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– (2) an intrinsic LIQUID PHASE BIAS (POD_ice 62%; surface-independent).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– Thermal CTH is strong (−0.25 km); CER is robust. These are the trustworthy products over the cryosphere.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B4F72"/>
                </a:solidFill>
              </a:rPr>
              <a:t>• NEXT STEPS (require new processing, not further analysis):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– Arctic / boreal-summer month (Arctic sea-ice &amp; Greenland) · Sentinel-3B · other seasons.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