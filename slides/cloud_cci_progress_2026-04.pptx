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75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Validating ORAC cloud retrievals with EarthCARE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CCDDFF"/>
                </a:solidFill>
              </a:rPr>
              <a:t>Framework progress — cloud_cci meeting</a:t>
            </a:r>
          </a:p>
          <a:p>
            <a:pPr>
              <a:spcBef>
                <a:spcPts val="2400"/>
              </a:spcBef>
            </a:pPr>
            <a:r>
              <a:rPr sz="1600">
                <a:solidFill>
                  <a:srgbClr val="EEEEEE"/>
                </a:solidFill>
              </a:rPr>
              <a:t>Rui Song   •   University of Oxford / NCEO</a:t>
            </a:r>
          </a:p>
          <a:p>
            <a:r>
              <a:rPr sz="1400">
                <a:solidFill>
                  <a:srgbClr val="CCCCCC"/>
                </a:solidFill>
              </a:rPr>
              <a:t>April 2026   •   ESA cloud_cci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Objectives &amp; scope</a:t>
            </a:r>
          </a:p>
          <a:p>
            <a:r>
              <a:rPr sz="1200">
                <a:solidFill>
                  <a:srgbClr val="DDDDDD"/>
                </a:solidFill>
              </a:rPr>
              <a:t>Independent EarthCARE references for ORAC L2 cloud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64000"/>
            <a:ext cx="111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 Goal: build a reproducible validation framework for ORAC cloud retrievals against EarthCARE L2 products.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 Variables in scope: cloud optical thickness (cot), effective radius (cer), top height (cth), water path (cwp), thermodynamic phase.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 Reference instruments: active sensors (ATLID lidar, CPR radar) and active+passive synergy (AM, AC, ACM) products only.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 Out of scope: MSI-only passive products (M-COP, M-CM, M-AOT) — too close to ORAC's own measurement domain to be independent.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 Deliverables for this milestone: data access module, collocation grid, statistics pipeline, first inter-comparison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Validation framework — overview</a:t>
            </a:r>
          </a:p>
        </p:txBody>
      </p:sp>
      <p:pic>
        <p:nvPicPr>
          <p:cNvPr id="3" name="Picture 2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80000"/>
            <a:ext cx="11340000" cy="51003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5400000"/>
            <a:ext cx="11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Three layers: (i) ORAC + EarthCARE inputs, (ii) data access &amp; space-time collocation, (iii) statistics and figures.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All layers are now in place; the EarthCARE → ORAC statistics layer is the next focus (slide 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EarthCARE reference products</a:t>
            </a:r>
          </a:p>
          <a:p>
            <a:r>
              <a:rPr sz="1200">
                <a:solidFill>
                  <a:srgbClr val="DDDDDD"/>
                </a:solidFill>
              </a:rPr>
              <a:t>Active and synergy L2; primaries highlighted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2000" y="864000"/>
          <a:ext cx="113400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2160000"/>
                <a:gridCol w="3240000"/>
                <a:gridCol w="4500000"/>
              </a:tblGrid>
              <a:tr h="414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MAAP type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Instruments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Validates ORAC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A-CTH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ATL_CTH_2A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cth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A-TC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ATL_TC__2A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phase, cldtype, mask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A-EBD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ATL_EBD_2A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cot (∫ extinction)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A-ICE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ATL_ICE_2A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ice cer, cwp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C-CLD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CPR_CLD_2A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cwp, cer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C-TC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CPR_TC__2A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cth, phase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 b="1"/>
                        <a:t>AM-CTH ★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AM__CTH_2B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ATLID + MSI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cth across MSI swath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/>
                        <a:t>AC-TC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AC__TC__2B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ATLID + CPR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phase, cldtype, mask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200" b="1"/>
                        <a:t>ACM-CAP ★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ACM_CAP_2B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ATLID + CPR + MSI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cot, cer, cwp, phase</a:t>
                      </a:r>
                    </a:p>
                  </a:txBody>
                  <a:tcPr>
                    <a:solidFill>
                      <a:srgbClr val="FFF4C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2000" y="5220000"/>
            <a:ext cx="11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Primary references: AM-CTH (cloud-top across the MSI swath) and ACM-CAP (flagship variational retrieval).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ATLID/CPR L2a serve as nadir-only fall-back references and for cross-checking the synergy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earthcare/ — ESA MAAP data-access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64000"/>
            <a:ext cx="113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 Python client for the ESA MAAP STAC catalogue (EarthCAREL2Validated_MAAP).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 Catalogue search is anonymous; downloads use a 90-day offline token (env var or ~/.maap/offline_token), exchanged automatically for short-lived access tokens.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 Per-product spatial / temporal search; output layout: earthcare_data/&lt;PRODUCT_TYPE&gt;/YYYY/MM/DD/&lt;file&gt;.h5.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 Both Python API and CLI: `python -m earthcare {list-products | describe | search | download}`.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 Currently mirrored locally: ATL_CTH_2A, ATL_EBD_2A, AM__CTH_2B, ACM_CAP_2B.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4680000"/>
            <a:ext cx="11340000" cy="1620000"/>
          </a:xfrm>
          <a:prstGeom prst="rect">
            <a:avLst/>
          </a:prstGeom>
          <a:solidFill>
            <a:srgbClr val="EEEEEE"/>
          </a:solidFill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  <a:latin typeface="Courier New"/>
              </a:rPr>
              <a:t>from earthcare import MaapCatalog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cat = MaapCatalog()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items = cat.search('AM-CTH', start='2025-02-01T00:00:00Z',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               end='2025-02-02T00:00:00Z', bbox=(-30,-60,60,60))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for it in items[:3]: cat.download_item(it, 'earthcare_data')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EarthCARE products — example frames</a:t>
            </a:r>
          </a:p>
        </p:txBody>
      </p:sp>
      <p:pic>
        <p:nvPicPr>
          <p:cNvPr id="3" name="Picture 2" descr="a_cth_na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936000"/>
            <a:ext cx="3780000" cy="1546364"/>
          </a:xfrm>
          <a:prstGeom prst="rect">
            <a:avLst/>
          </a:prstGeom>
        </p:spPr>
      </p:pic>
      <p:pic>
        <p:nvPicPr>
          <p:cNvPr id="4" name="Picture 3" descr="am_cth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000" y="936000"/>
            <a:ext cx="3780000" cy="1260000"/>
          </a:xfrm>
          <a:prstGeom prst="rect">
            <a:avLst/>
          </a:prstGeom>
        </p:spPr>
      </p:pic>
      <p:pic>
        <p:nvPicPr>
          <p:cNvPr id="5" name="Picture 4" descr="acm_cap_curt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00" y="936000"/>
            <a:ext cx="3780000" cy="22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6000" y="4140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A-CTH — ATLID nadir cloud-top height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6000" y="4140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AM-CTH — ATLID+MSI synergy CTH (frame)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6000" y="4140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ACM-CAP — active+passive curtain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4680000"/>
            <a:ext cx="113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Generated by scripts/make_earthcare_test_figures.py from locally mirrored frames.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Confirms readers / projection / variable extraction for both nadir (ATLID) and synergy (AM, ACM) products.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These three are the templates for ORAC ↔ EarthCARE comparison plots in the next milestone.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ATLID ↔ SLSTR collocation grid</a:t>
            </a:r>
          </a:p>
          <a:p>
            <a:r>
              <a:rPr sz="1200">
                <a:solidFill>
                  <a:srgbClr val="DDDDDD"/>
                </a:solidFill>
              </a:rPr>
              <a:t>12 months × S3A &amp; S3B — computed on JASMIN via SLURM</a:t>
            </a:r>
          </a:p>
        </p:txBody>
      </p:sp>
      <p:pic>
        <p:nvPicPr>
          <p:cNvPr id="3" name="Picture 2" descr="coloca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864000"/>
            <a:ext cx="11520000" cy="4004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4680000"/>
            <a:ext cx="113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ATLID nadir track (sampled central points) matched to per-orbit SLSTR-3A / 3B swath polygons.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Match criterion: lat/lon point-in-polygon plus a configurable time window; closest-in-time match retained.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Output: orbit/colocation/atlid_slstr3{a,b}_matches_YYYY-MM.csv  (one file per month per platform).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Aug-2024 → Jul-2025 covered for both S3A and S3B; ~10–20k matches per month per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validation/ — pipeline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64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readers.py — ORAC L2 + EarthCARE H5 readers; common record schema.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collocate.py — swath ↔ swath / nadir matching (uses the orbit/colocation tables).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reference.py — wraps the EarthCARE reference variables per product.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statistics.py — bias, RMSE, MAE, correlation, slope/intercept, by surface and QC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compare_figures.py — R10 vs R11 inter-comparison plots and CSV.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track_figures.py — per-track case-study panels with coastlines / borders / ice mask.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water_cloud_figures.py / cth_figures.py — variable-specific spatial maps.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2000" y="936000"/>
            <a:ext cx="5580000" cy="4680000"/>
          </a:xfrm>
          <a:prstGeom prst="rect">
            <a:avLst/>
          </a:prstGeom>
          <a:solidFill>
            <a:srgbClr val="EEEEEE"/>
          </a:solidFill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  <a:latin typeface="Courier New"/>
              </a:rPr>
              <a:t># CLI entry point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python -m validation \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compare --variable cot_water \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--month 2026-02 \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--retrievals R10 R11 \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--qc strict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python -m validation \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track --frame 09865H \</a:t>
            </a:r>
          </a:p>
          <a:p>
            <a:r>
              <a:rPr sz="1200">
                <a:solidFill>
                  <a:srgbClr val="222222"/>
                </a:solidFill>
                <a:latin typeface="Courier New"/>
              </a:rPr>
              <a:t>    --label marine-stratocumulus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Inter-comparison — R10 vs R11 (cot_water, Feb 2026)</a:t>
            </a:r>
          </a:p>
          <a:p>
            <a:r>
              <a:rPr sz="1200">
                <a:solidFill>
                  <a:srgbClr val="DDDDDD"/>
                </a:solidFill>
              </a:rPr>
              <a:t>Pixel-level, strict QC</a:t>
            </a:r>
          </a:p>
        </p:txBody>
      </p:sp>
      <p:pic>
        <p:nvPicPr>
          <p:cNvPr id="3" name="Picture 2" descr="compare_R10_R11_scatter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864000"/>
            <a:ext cx="3600000" cy="1777309"/>
          </a:xfrm>
          <a:prstGeom prst="rect">
            <a:avLst/>
          </a:prstGeom>
        </p:spPr>
      </p:pic>
      <p:pic>
        <p:nvPicPr>
          <p:cNvPr id="4" name="Picture 3" descr="compare_R10_R11_bias_pix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000" y="864000"/>
            <a:ext cx="3600000" cy="1784022"/>
          </a:xfrm>
          <a:prstGeom prst="rect">
            <a:avLst/>
          </a:prstGeom>
        </p:spPr>
      </p:pic>
      <p:pic>
        <p:nvPicPr>
          <p:cNvPr id="5" name="Picture 4" descr="compare_R10_R11_rmse_pix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000" y="864000"/>
            <a:ext cx="3600000" cy="17840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6000" y="3024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Scatter (R10 / R11 vs reference)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4000" y="3024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Bias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3024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RMSE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780000"/>
            <a:ext cx="113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All-pixel summary (qc_strict): R10  bias = +5.60, RMSE = 40.4   |   R11  bias = +6.93, RMSE = 43.7   (n ≈ 4.5×10⁵).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R11 currently shows slightly higher bias and RMSE than R10 in cot_water at pixel level — worth flagging for the cot_water surface stratification (ocean / land / coast) shown in the by-surface panels.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These plots use the existing ORAC reference; the EarthCARE (ACM-CAP) reference will replace it as the canonical truth in the next milestone.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Case-study tracks — R10 vs R11</a:t>
            </a:r>
          </a:p>
          <a:p>
            <a:r>
              <a:rPr sz="1200">
                <a:solidFill>
                  <a:srgbClr val="DDDDDD"/>
                </a:solidFill>
              </a:rPr>
              <a:t>10 frames sampled across regimes; 3 shown</a:t>
            </a:r>
          </a:p>
        </p:txBody>
      </p:sp>
      <p:pic>
        <p:nvPicPr>
          <p:cNvPr id="3" name="Picture 2" descr="track_09865H_marine-stratocumulus_R10_vs_R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864000"/>
            <a:ext cx="3780000" cy="3808191"/>
          </a:xfrm>
          <a:prstGeom prst="rect">
            <a:avLst/>
          </a:prstGeom>
        </p:spPr>
      </p:pic>
      <p:pic>
        <p:nvPicPr>
          <p:cNvPr id="4" name="Picture 3" descr="track_09542B_north-atlantic_R10_vs_R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000" y="864000"/>
            <a:ext cx="3780000" cy="3808191"/>
          </a:xfrm>
          <a:prstGeom prst="rect">
            <a:avLst/>
          </a:prstGeom>
        </p:spPr>
      </p:pic>
      <p:pic>
        <p:nvPicPr>
          <p:cNvPr id="5" name="Picture 4" descr="track_09574A_tropical-atlantic_R10_vs_R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00" y="864000"/>
            <a:ext cx="3780000" cy="3808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6000" y="4824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Marine stratocumulus (09865H)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6000" y="4824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North Atlantic (09542B)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6000" y="4824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Tropical Atlantic (09574A)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5220000"/>
            <a:ext cx="11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Track panels include coastlines, country borders, and an ice mask (liquid_classification == 3).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Full set of 10 cases covers Arctic, North Africa, North/Tropical Atlantic, Western Europe, Indian Ocean, S. America, S. Indian Ocean, marine Sc, tropical mixed.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1999" tIns="900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55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3D91"/>
                </a:solidFill>
              </a:rPr>
              <a:t>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224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earthcare/ MAAP STAC client (search + download).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Local mirror: A-CTH, A-EBD, AM-CTH, ACM-CAP test frames.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ATLID ↔ SLSTR collocation grid (12 months × S3A &amp; S3B).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validation/ pipeline (readers, collocate, statistics, figures).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R10 vs R11 inter-comparison — cot_water, cer_water, cth (Feb 2026).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10 case-study tracks across regimes.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2000" y="792000"/>
            <a:ext cx="55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102E"/>
                </a:solidFill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2000" y="1224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Connect ACM-CAP (cot/cer/cwp/phase) and AM-CTH (cth) as the canonical references inside validation/statistics.py.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Bulk-download EarthCARE frames over the SEVIRI / SLSTR disk for the colocation period (Aug-2024 → Jul-2025).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Extend collocation from ATLID-only to MSI footprint matching for AM-CTH / ACM-CAP comparisons.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Add ice-cloud cases (A-ICE, C-CLD) to the case-study set.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Automate monthly statistics and version regression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6534000"/>
            <a:ext cx="11832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Cloud_cci progress — ORAC × EarthCARE validation   •   Oxford / NCEO   •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10752119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Summary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EEEEEE"/>
                </a:solidFill>
              </a:rPr>
              <a:t>•  Validation framework end-to-end in place: data access, collocation, statistics, figures.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EEEEEE"/>
                </a:solidFill>
              </a:rPr>
              <a:t>•  First inter-comparison results (R10 vs R11) reproducible from the pipeline.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EEEEEE"/>
                </a:solidFill>
              </a:rPr>
              <a:t>•  Next milestone: swap the reference layer from ORAC-internal to EarthCARE (AM-CTH / ACM-CAP).</a:t>
            </a:r>
          </a:p>
          <a:p>
            <a:pPr>
              <a:spcBef>
                <a:spcPts val="4000"/>
              </a:spcBef>
            </a:pPr>
            <a:r>
              <a:rPr sz="2800" b="1">
                <a:solidFill>
                  <a:srgbClr val="FFD966"/>
                </a:solidFill>
              </a:rPr>
              <a:t>Questions /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